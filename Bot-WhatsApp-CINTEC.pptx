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0007"/>
          </a:solidFill>
          <a:ln w="12700">
            <a:solidFill>
              <a:srgbClr val="3D000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ED0914">
              <a:alpha val="40000"/>
            </a:srgbClr>
          </a:solidFill>
          <a:ln w="12700">
            <a:solidFill>
              <a:srgbClr val="ED091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5486400" cy="5486400"/>
          </a:xfrm>
          <a:prstGeom prst="ellipse">
            <a:avLst/>
          </a:prstGeom>
          <a:solidFill>
            <a:srgbClr val="ED0914">
              <a:alpha val="25000"/>
            </a:srgbClr>
          </a:solidFill>
          <a:ln w="12700">
            <a:solidFill>
              <a:srgbClr val="ED0914">
                <a:alpha val="25000"/>
              </a:srgbClr>
            </a:solidFill>
            <a:prstDash val="solid"/>
          </a:ln>
        </p:spPr>
      </p:sp>
      <p:pic>
        <p:nvPicPr>
          <p:cNvPr id="5" name="Image 0" descr="https://assets.jumpseller.com/store/cintecsa/themes/954643/settings/e6f636bc6ca9fb2e0341/logo%20cintec%20color_.png?177194479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01168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2801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COMERCIAL CONFIDENCIAL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 Cotizaciones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Automáticas vía WhatsApp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que recibe solicitudes de clientes, consulta el catálogo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productos y envía cotizaciones por email — disponible 24/7, sin intervención humana.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526280"/>
            <a:ext cx="2560320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5262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Operativo hoy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0" y="4526280"/>
            <a:ext cx="2560320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0" y="45262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Claude AI integrado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4526280"/>
            <a:ext cx="2560320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45262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Reportes en tiempo real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144000" y="4526280"/>
            <a:ext cx="2560320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0" y="45262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Seguridad enterprise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86800" y="64922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 · Propuesta de Automatización Comercial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0914"/>
          </a:solidFill>
          <a:ln w="12700">
            <a:solidFill>
              <a:srgbClr val="ED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contratar un vendedor que nunca duerme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 es un sistema automatizado que conversa con tus clientes como lo haría un vendedor — pero disponible 24/7, sin descanso y sin errores.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FF0F0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55648"/>
            <a:ext cx="3054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El Bot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76272"/>
            <a:ext cx="30540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el mensaje, pide el RUT, valida la empresa, busca los productos y envía la cotización automáticamente.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1755648"/>
            <a:ext cx="3054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El Catálogo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62272" y="2176272"/>
            <a:ext cx="30540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Google Sheets en tiempo real. Si cambias un precio, el bot lo refleja inmediatamente en la siguiente cotización.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6002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19872" y="1755648"/>
            <a:ext cx="3054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El Email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19872" y="2176272"/>
            <a:ext cx="30540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y envía la cotización formal al correo del cliente en segundos, con todos los detalles y totales.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8221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 BOT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409651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Vendedor disponible solo en horario de oficina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Respuesta: horas o al día siguiente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Errores manuales posibles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4114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38221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BOT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409651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Bot disponible 24/7 todos los días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Respuesta: menos de 30 segundos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Precios exactos desde el catálogo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0914"/>
          </a:solidFill>
          <a:ln w="12700">
            <a:solidFill>
              <a:srgbClr val="ED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completo paso a paso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que el cliente escribe hasta que recibe el email, todo ocurre en menos de un minuto.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719072" cy="2194560"/>
          </a:xfrm>
          <a:prstGeom prst="roundRect">
            <a:avLst>
              <a:gd name="adj" fmla="val 6383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escribe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25603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WhatsApp y envía mensaje al número de CINTEC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21408" y="19659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40864" y="1508760"/>
            <a:ext cx="1719072" cy="2194560"/>
          </a:xfrm>
          <a:prstGeom prst="roundRect">
            <a:avLst>
              <a:gd name="adj" fmla="val 6383"/>
            </a:avLst>
          </a:prstGeom>
          <a:solidFill>
            <a:srgbClr val="EFF6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40864" y="160020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32304" y="2176272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saluda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14016" y="25603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RUT y razón social para identificar al cliente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05072" y="19659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24528" y="1508760"/>
            <a:ext cx="1719072" cy="2194560"/>
          </a:xfrm>
          <a:prstGeom prst="roundRect">
            <a:avLst>
              <a:gd name="adj" fmla="val 6383"/>
            </a:avLst>
          </a:prstGeom>
          <a:solidFill>
            <a:srgbClr val="FEFCE8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24528" y="160020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315968" y="2176272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productos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25603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escribe qué productos y cantidades necesita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88736" y="19659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08192" y="1508760"/>
            <a:ext cx="1719072" cy="2194560"/>
          </a:xfrm>
          <a:prstGeom prst="roundRect">
            <a:avLst>
              <a:gd name="adj" fmla="val 6383"/>
            </a:avLst>
          </a:prstGeom>
          <a:solidFill>
            <a:srgbClr val="FAF5FF"/>
          </a:solidFill>
          <a:ln w="15240">
            <a:solidFill>
              <a:srgbClr val="D8B4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8192" y="160020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199632" y="2176272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en catálogo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81344" y="25603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Google Sheets y calcula precios en tiempo real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19659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91856" y="1508760"/>
            <a:ext cx="1719072" cy="2194560"/>
          </a:xfrm>
          <a:prstGeom prst="roundRect">
            <a:avLst>
              <a:gd name="adj" fmla="val 6383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91856" y="160020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083296" y="2176272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por WhatsApp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65008" y="25603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resumen con precios y totales al cliente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56064" y="19659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875520" y="1508760"/>
            <a:ext cx="1719072" cy="2194560"/>
          </a:xfrm>
          <a:prstGeom prst="roundRect">
            <a:avLst>
              <a:gd name="adj" fmla="val 6383"/>
            </a:avLst>
          </a:prstGeom>
          <a:solidFill>
            <a:srgbClr val="FFF0F0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160020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📧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9966960" y="2176272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automático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48672" y="25603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cotización formal al correo del cliente en segundos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3886200"/>
            <a:ext cx="1090879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97764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TIEMPO TOTAL DEL PROCESO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seg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4572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escribe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01752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seg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017520" y="4572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responde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12064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seg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20640" y="4572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consultado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2376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seg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223760" y="4572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 lista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32688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 seg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326880" y="4572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enviado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0914"/>
          </a:solidFill>
          <a:ln w="12700">
            <a:solidFill>
              <a:srgbClr val="ED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real en WhatsApp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840480" cy="5394960"/>
          </a:xfrm>
          <a:prstGeom prst="roundRect">
            <a:avLst>
              <a:gd name="adj" fmla="val 4286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3840480" cy="502920"/>
          </a:xfrm>
          <a:prstGeom prst="rect">
            <a:avLst/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152144"/>
            <a:ext cx="347472" cy="347472"/>
          </a:xfrm>
          <a:prstGeom prst="ellipse">
            <a:avLst/>
          </a:prstGeom>
          <a:solidFill>
            <a:srgbClr val="ED0914"/>
          </a:solidFill>
          <a:ln w="12700">
            <a:solidFill>
              <a:srgbClr val="ED0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52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5568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CINTEC Ventas  🟢 en línea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16916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728216"/>
            <a:ext cx="2414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¡Hola! Bienvenido/a a CINTEC.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cotizarte necesito tu RUT.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783080" y="2221992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56232" y="2258568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12.345.678-9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77240" y="2569464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0604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RUT validado. ¿Cuál es tu Razón Social?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783080" y="2916936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56232" y="295351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Distribuidora El Sur Ltda.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77240" y="3264408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3009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Registrado. ¿Qué productos necesitas cotizar?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783080" y="361188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56232" y="3648456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lavaloza 10 un, detergente 5 kg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77240" y="3959352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995928"/>
            <a:ext cx="241401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Buscando en catálogo...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Lavaloza Liq. 5L × 10 — $48.500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Detergente Ind. 5kg × 5 — $61.500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TOTAL: $110.000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77240" y="5038344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507492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¿A qué correo enviamos la cotización?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783080" y="5385816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56232" y="542239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compras@empresa.cl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77240" y="5733288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5769864"/>
            <a:ext cx="2414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¡Listo! Cotización enviada.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 por preferirnos! 🙏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54880" y="1097280"/>
            <a:ext cx="7223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20700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RUT + Razón Social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153619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 identifica al cliente y valida su RUT con el módulo 11 oficial.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2240280"/>
            <a:ext cx="7223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35000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Lista de productos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267919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escribe en lenguaje natural. El bot entiende cantidades y formatos.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383280"/>
            <a:ext cx="7223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49300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Búsqueda en catálogo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37760" y="382219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Google Sheets en tiempo real y calcula precios exactos con subtotales.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4526280"/>
            <a:ext cx="7223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63600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Confirmación y email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37760" y="496519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el correo del cliente y envía la cotización formal automáticamente.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0914"/>
          </a:solidFill>
          <a:ln w="12700">
            <a:solidFill>
              <a:srgbClr val="ED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CORREO AL CLIENTE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llega la cotización al email?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 usa Resend, un servicio profesional de envío, que garantiza la entrega en segundos.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2763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confirma email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29968" y="2011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78024" y="155448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78024" y="162763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40864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CINTEC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40864" y="24871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cotización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913632" y="2011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61688" y="155448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162763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224528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24528" y="24871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actualizados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797296" y="2011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45352" y="155448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162763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08192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08192" y="24871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Generada en el bot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680960" y="2011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129016" y="155448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29016" y="162763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📧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991856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91856" y="24871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profesional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564624" y="2011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012680" y="155448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12680" y="162763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📥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875520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cliente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875520" y="24871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en segundos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371600" y="3154680"/>
            <a:ext cx="9445752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0" y="3154680"/>
            <a:ext cx="944575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36192" y="320040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De: cotizaciones@cintec.cl   |   Para: compras@empresa.cl   |   Asunto: Cotización N°2847 — Distribuidora El Sur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554480" y="370332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Cotización de Productos CINTEC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55448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Lavaloza Líquido 5L × 10 un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8680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$48.500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55448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Detergente Industrial 5kg × 5 un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8680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$61.500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55448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6868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$110.000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554480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(19%)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686800" y="5120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$20.900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554480" y="5486400"/>
            <a:ext cx="8961120" cy="384048"/>
          </a:xfrm>
          <a:prstGeom prst="roundRect">
            <a:avLst>
              <a:gd name="adj" fmla="val 14286"/>
            </a:avLst>
          </a:prstGeom>
          <a:solidFill>
            <a:srgbClr val="ED0914"/>
          </a:solidFill>
          <a:ln w="12700">
            <a:solidFill>
              <a:srgbClr val="ED091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37360" y="552297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686800" y="55229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$130.900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0914"/>
          </a:solidFill>
          <a:ln w="12700">
            <a:solidFill>
              <a:srgbClr val="ED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automatizar las cotizaciones?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44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19385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siempre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de semana, festivos y madrugadas. Respuesta inmediata en cualquier horario.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444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80560" y="19385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inmediata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26771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que el cliente escribe hasta que recibe la cotización pasan menos de un minuto.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55280" y="128016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444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73252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38160" y="19385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exactos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38160" y="226771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el catálogo oficial en cada cotización. Cero errores ni precios desactualizados.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1732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22960" y="42702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tiempo real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59943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con productos más cotizados, clientes activos y montos generados por canal.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361188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👔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07492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+Ventas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480560" y="42702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 enfocados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459943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Liberados de rutinas, el equipo dedica su energía a negociaciones de alto valor.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55280" y="361188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73252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138160" y="42702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solo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38160" y="459943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8 UF/mes, la inversión se recupera en ~5 meses solo por ahorro operacional.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0914"/>
          </a:solidFill>
          <a:ln w="12700">
            <a:solidFill>
              <a:srgbClr val="ED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QUIÉN?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cualquier empresa con catálogo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empresa que venda productos con precios definidos puede implementar este bot en menos de una semana.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FF0F0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🧴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04672" y="21579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Higiene y Limpieza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514600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CINTEC — distribuidoras de productos industriales que atienden empresas por volumen.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EFF6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62272" y="21579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Ferretería y Construcción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62272" y="2514600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 de materiales, herramientas y repuestos con precios de lista actualizados.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9872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🥗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119872" y="21579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y Bebidas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19872" y="2514600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Distribuidoras con clientes regulares: restaurantes, supermercados, hoteles.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EF9C3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💊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04672" y="43525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Farmacéutica y Lab.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4709160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médicos, reactivos y equipos con validación de cliente por RUT.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374904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AF5FF"/>
          </a:solidFill>
          <a:ln w="15240">
            <a:solidFill>
              <a:srgbClr val="D8B4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2272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462272" y="43525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Industriales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62272" y="4709160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Maquinaria y repuestos con flujos especializados (como las hidrolavadoras en CINTEC).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374904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FF7ED"/>
          </a:solidFill>
          <a:ln w="15240">
            <a:solidFill>
              <a:srgbClr val="FDBA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19872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👕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119872" y="43525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 y Uniformes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19872" y="4709160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Vestuario corporativo con tallas, colores y cantidades mínimas por pedido.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0914"/>
          </a:solidFill>
          <a:ln w="12700">
            <a:solidFill>
              <a:srgbClr val="ED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datos están protegidos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Explicado sin tecnicismos: estas son las 5 capas de protección del sistema.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58191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581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58191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HMAC-SHA256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63040" y="181965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Meta puede hablar con el bot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1945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mensaje llega con un "sello secreto". Si el mensaje no tiene ese sello exacto, el bot lo rechaza automáticamente.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" y="274320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78892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Como un sobre con lacre sellado — si alguien lo abrió antes de llegar, se nota y se rechaza.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158191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581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32320" y="158191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32320" y="181965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puede saturar el sistema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3952" y="21945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envía cientos de mensajes para colapsar el bot, el sistema lo detecta y lo bloquea automáticamente.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73952" y="274320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278892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Como un portero de discoteca — si alguien intenta entrar muchas veces seguidas, lo detiene.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70332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386791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867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3040" y="386791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463040" y="410565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contraseñas nunca están en el código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" y="44805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claves de acceso están guardadas en un sistema separado, no escritas en el programa.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" y="502920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507492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Como guardar las llaves en una caja fuerte, no debajo de la alfombra.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370332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73952" y="386791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3867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32320" y="386791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XSS + CSP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32320" y="410565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mensaje puede dañar el sistema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73952" y="44805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 filtra todo lo que recibe. Si alguien envía código malicioso disfrazado de texto, el sistema lo neutraliza.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73952" y="502920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507492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Como el escáner del aeropuerto — revisa cada equipaje antes de dejarlo pasar.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" y="5989320"/>
            <a:ext cx="10908792" cy="594360"/>
          </a:xfrm>
          <a:prstGeom prst="roundRect">
            <a:avLst>
              <a:gd name="adj" fmla="val 12308"/>
            </a:avLst>
          </a:prstGeom>
          <a:solidFill>
            <a:srgbClr val="ED0914"/>
          </a:solidFill>
          <a:ln w="12700">
            <a:solidFill>
              <a:srgbClr val="8B000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Token permanente de Meta: La conexión con WhatsApp Business nunca caduca. No hay riesgo de que el bot se desconecte solo.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0914"/>
          </a:solidFill>
          <a:ln w="12700">
            <a:solidFill>
              <a:srgbClr val="ED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D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Estándar — Propuesta de servicio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en UF = protección contra la inflación. El costo real en pesos no varía con el tiempo.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0" y="1417320"/>
            <a:ext cx="8897112" cy="4663440"/>
          </a:xfrm>
          <a:prstGeom prst="roundRect">
            <a:avLst>
              <a:gd name="adj" fmla="val 2353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60020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ESTÁNDAR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11680" y="19568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Mensual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11680" y="24871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(pago único)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27614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UF + IVA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320040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$970.000 al valor de hoy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2697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806440" y="24871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Mantención mensual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06440" y="27614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UF / mes + IVA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06440" y="320040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$310.400/mes · sin contrato mínimo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354787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36576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CADA MES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11680" y="39319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Servidor Railway activo 24/7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9319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Business API (Meta)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42702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Claude AI · consultas libres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42702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Resend · emails transaccionales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46085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técnico y correcciones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46085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Actualizaciones de seguridad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49469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Panel de reportes siempre activo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49469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Monitoreo y alertas de caídas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199632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UF ≈ $38.800 CLP (jun 2026)  ·  El bot cuesta menos que el sueldo de medio día de un vendedor y trabaja 720 horas al mes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0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0007"/>
          </a:solidFill>
          <a:ln w="12700">
            <a:solidFill>
              <a:srgbClr val="3D000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ED0914">
              <a:alpha val="30000"/>
            </a:srgbClr>
          </a:solidFill>
          <a:ln w="12700">
            <a:solidFill>
              <a:srgbClr val="ED091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6400800" cy="6400800"/>
          </a:xfrm>
          <a:prstGeom prst="ellipse">
            <a:avLst/>
          </a:prstGeom>
          <a:solidFill>
            <a:srgbClr val="ED0914">
              <a:alpha val="20000"/>
            </a:srgbClr>
          </a:solidFill>
          <a:ln w="12700">
            <a:solidFill>
              <a:srgbClr val="ED0914">
                <a:alpha val="20000"/>
              </a:srgbClr>
            </a:solidFill>
            <a:prstDash val="solid"/>
          </a:ln>
        </p:spPr>
      </p:sp>
      <p:pic>
        <p:nvPicPr>
          <p:cNvPr id="5" name="Image 0" descr="https://assets.jumpseller.com/store/cintecsa/themes/954643/settings/e6f636bc6ca9fb2e0341/logo%20cintec%20color_.png?177194479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201168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1887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 activamos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semana?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 ya está funcionando. Solo necesita conectarse al número real de CINTEC.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6118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7490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31520" y="42519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propuesta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emitir OC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29000" y="36118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29000" y="37490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520440" y="42519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número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oficial de CINTEC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36118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37490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309360" y="42519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catálogo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flujos finales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006840" y="36118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06840" y="37490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9098280" y="42519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en producción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&lt; 48 horas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194560" y="5074920"/>
            <a:ext cx="779983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377440" y="51937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 para empezar?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2377440" y="55961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mancillagino@gmail.com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377440" y="59253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Respuesta en menos de 24 horas hábiles  ·  🚀  Operativo en menos de una semana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2026-06-23T01:19:14Z</dcterms:created>
  <dcterms:modified xsi:type="dcterms:W3CDTF">2026-06-23T01:19:14Z</dcterms:modified>
</cp:coreProperties>
</file>